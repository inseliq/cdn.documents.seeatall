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21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021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799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556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602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413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404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188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26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623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533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DEA62-1A9A-4ED4-B1D7-350710AE9CAC}" type="datetimeFigureOut">
              <a:rPr lang="ru-RU" smtClean="0"/>
              <a:t>04.12.2024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662A7-5C1E-4422-B09A-760AAE6391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74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42339" y="1682151"/>
            <a:ext cx="4888302" cy="3751200"/>
          </a:xfrm>
        </p:spPr>
        <p:txBody>
          <a:bodyPr>
            <a:normAutofit fontScale="70000" lnSpcReduction="20000"/>
          </a:bodyPr>
          <a:lstStyle/>
          <a:p>
            <a:pPr indent="457200" algn="just">
              <a:lnSpc>
                <a:spcPct val="160000"/>
              </a:lnSpc>
              <a:spcBef>
                <a:spcPts val="0"/>
              </a:spcBef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состояний (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это один из видов диаграмм UML, используемых в разработке программного обеспечения, чтобы визуализировать и моделировать поведение объекта или системы в различных состояниях. Она позволяет описать все возможные состояния объекта, а также переходы между ними в ответ на определенные события.</a:t>
            </a:r>
          </a:p>
          <a:p>
            <a:pPr algn="just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0" t="8118" r="1586" b="11626"/>
          <a:stretch/>
        </p:blipFill>
        <p:spPr>
          <a:xfrm>
            <a:off x="603851" y="1682151"/>
            <a:ext cx="5426015" cy="375249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0511" y="328368"/>
            <a:ext cx="4799327" cy="834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3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состояний</a:t>
            </a:r>
            <a:endParaRPr lang="ru-RU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10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42339" y="1682151"/>
            <a:ext cx="4888302" cy="3751200"/>
          </a:xfrm>
        </p:spPr>
        <p:txBody>
          <a:bodyPr>
            <a:normAutofit fontScale="85000" lnSpcReduction="10000"/>
          </a:bodyPr>
          <a:lstStyle/>
          <a:p>
            <a:pPr indent="457200" algn="just">
              <a:lnSpc>
                <a:spcPct val="150000"/>
              </a:lnSpc>
              <a:spcBef>
                <a:spcPts val="0"/>
              </a:spcBef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состояний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важным инструментом моделирования в инженерии программного обеспечения, системной инженерии и других областях. Она представляет объект или систему как совокупность состояний и переходов между ними, которые происходят в ответ на внешние или внутренние события. Ее использование охватывает широкий спектр задач, связанных с анализом, проектированием, разработкой и тестированием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00" y="1682151"/>
            <a:ext cx="4903917" cy="375249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346387" y="215660"/>
            <a:ext cx="73669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диаграммы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состояний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82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51284" y="1302588"/>
            <a:ext cx="5303807" cy="4917057"/>
          </a:xfrm>
        </p:spPr>
        <p:txBody>
          <a:bodyPr>
            <a:noAutofit/>
          </a:bodyPr>
          <a:lstStyle/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Модульность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единственной ответственности (SRP)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Повторное использование (DRY –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Don'tRepeatYourself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Инкапсуляция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и минимализм (KISS –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Stupid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открытости/закрытости (OCP)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совместимость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Тестируемость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Учет производительности и эффективности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инверсии зависимостей (DIP)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 и итеративная разработка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стандартов и соглашений</a:t>
            </a:r>
          </a:p>
          <a:p>
            <a:pPr indent="450000" algn="just">
              <a:lnSpc>
                <a:spcPct val="150000"/>
              </a:lnSpc>
              <a:spcBef>
                <a:spcPts val="0"/>
              </a:spcBef>
              <a:buFont typeface="Calibri" panose="020F0502020204030204" pitchFamily="34" charset="0"/>
              <a:buChar char="─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минимальной зависимости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LawofDemeter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700733" y="172528"/>
            <a:ext cx="4804911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разработки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40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42339" y="1682151"/>
            <a:ext cx="4175186" cy="4270075"/>
          </a:xfrm>
        </p:spPr>
        <p:txBody>
          <a:bodyPr>
            <a:normAutofit fontScale="47500" lnSpcReduction="20000"/>
          </a:bodyPr>
          <a:lstStyle/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требований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─ 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анализ требований к системе.</a:t>
            </a:r>
            <a:endParaRPr lang="ru-RU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системы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─ Создание архитектуры будущего программного продукта.</a:t>
            </a:r>
            <a:endParaRPr lang="ru-RU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Прототипирование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(при необходимости) 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─ Создание упрощенной версии продукта для демонстрации идей и проверки концепций.</a:t>
            </a:r>
            <a:endParaRPr lang="ru-RU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написание кода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─ Программирование согласно проекту.</a:t>
            </a: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отладка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─ Проверка системы на наличие ошибок и соответствие требованиям.</a:t>
            </a: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и развертывание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─ Внедрение системы в рабочую среду.</a:t>
            </a:r>
            <a:endParaRPr lang="ru-RU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 и поддержка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─ Обеспечение работоспособности и улучшение системы после запуска.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Bef>
                <a:spcPts val="0"/>
              </a:spcBef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Bef>
                <a:spcPts val="0"/>
              </a:spcBef>
            </a:pP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5" y="1978219"/>
            <a:ext cx="4903917" cy="367793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-310551" y="77638"/>
            <a:ext cx="12887864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разработки программного обеспечения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175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42339" y="1682151"/>
            <a:ext cx="4175186" cy="3600000"/>
          </a:xfrm>
        </p:spPr>
        <p:txBody>
          <a:bodyPr>
            <a:noAutofit/>
          </a:bodyPr>
          <a:lstStyle/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UML последовательности описывают переходы между состояниями объекта, учитывая события и вложенные состояния. В BPMN фокус на потоке процессов и условиях переходов. В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диаграммы упрощены, отражают ключевые состояния и обновляются итеративно. В </a:t>
            </a:r>
            <a:r>
              <a:rPr lang="ru-RU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Statecharts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поддерживаются сложные последовательности с вложенными и параллельными состояниями. В EDA последовательности строятся вокруг событий и их обработки.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638" y="1682151"/>
            <a:ext cx="3600000" cy="3600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59125" y="258792"/>
            <a:ext cx="10998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последовательности в разных методологиях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981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31125" y="1682151"/>
            <a:ext cx="6064370" cy="3600000"/>
          </a:xfrm>
        </p:spPr>
        <p:txBody>
          <a:bodyPr>
            <a:noAutofit/>
          </a:bodyPr>
          <a:lstStyle/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требования:</a:t>
            </a: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Читаемость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простота, лаконичность, единый стиль оформления, легенда, обозначения, масштабируемость.</a:t>
            </a: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размещению элементов:</a:t>
            </a: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Иерархия, логика, равномерное распределение, выравнивание, минимизация пересечений линий.</a:t>
            </a: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цветам и графике:</a:t>
            </a:r>
          </a:p>
          <a:p>
            <a:pPr indent="450000" algn="just">
              <a:lnSpc>
                <a:spcPct val="170000"/>
              </a:lnSpc>
              <a:spcBef>
                <a:spcPts val="0"/>
              </a:spcBef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Цветовая палитра, однозначные визуальные обозначения, качество изображений,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ребования к тексту, краткость,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диный стиль шрифтов, ясность формулировок.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25" y="1682151"/>
            <a:ext cx="3600000" cy="3600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59125" y="258792"/>
            <a:ext cx="10998679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оформлению диаграммы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492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59125" y="258792"/>
            <a:ext cx="10998679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графические обозначения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32-конечная звезда 1"/>
          <p:cNvSpPr/>
          <p:nvPr/>
        </p:nvSpPr>
        <p:spPr>
          <a:xfrm>
            <a:off x="11611154" y="6323162"/>
            <a:ext cx="439947" cy="439947"/>
          </a:xfrm>
          <a:prstGeom prst="star32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Bodoni MT Black" panose="02070A03080606020203" pitchFamily="18" charset="0"/>
              </a:rPr>
              <a:t>1</a:t>
            </a:r>
            <a:endParaRPr lang="ru-RU" sz="160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44787"/>
              </p:ext>
            </p:extLst>
          </p:nvPr>
        </p:nvGraphicFramePr>
        <p:xfrm>
          <a:off x="2194464" y="1289008"/>
          <a:ext cx="8128000" cy="4516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1505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Начальное и конечное состояния</a:t>
                      </a:r>
                      <a:endParaRPr lang="ru-RU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noFill/>
                  </a:tcPr>
                </a:tc>
              </a:tr>
              <a:tr h="1505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Состояние. </a:t>
                      </a:r>
                      <a:endParaRPr lang="ru-RU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noFill/>
                  </a:tcPr>
                </a:tc>
              </a:tr>
              <a:tr h="1505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Переход и событие.</a:t>
                      </a:r>
                      <a:endParaRPr lang="ru-RU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428" y="1926527"/>
            <a:ext cx="2190750" cy="27622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003" y="3033092"/>
            <a:ext cx="1371600" cy="100012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815" y="4785919"/>
            <a:ext cx="20859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30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59125" y="258792"/>
            <a:ext cx="10998679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графические обозначения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32-конечная звезда 1"/>
          <p:cNvSpPr/>
          <p:nvPr/>
        </p:nvSpPr>
        <p:spPr>
          <a:xfrm>
            <a:off x="11611154" y="6323162"/>
            <a:ext cx="439947" cy="439947"/>
          </a:xfrm>
          <a:prstGeom prst="star32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Bodoni MT Black" panose="02070A03080606020203" pitchFamily="18" charset="0"/>
              </a:rPr>
              <a:t>2</a:t>
            </a:r>
            <a:endParaRPr lang="ru-RU" sz="160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893966"/>
              </p:ext>
            </p:extLst>
          </p:nvPr>
        </p:nvGraphicFramePr>
        <p:xfrm>
          <a:off x="2194464" y="1289008"/>
          <a:ext cx="8128000" cy="5405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18016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Составное состояние и подсостояния.</a:t>
                      </a:r>
                      <a:endParaRPr lang="ru-RU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noFill/>
                  </a:tcPr>
                </a:tc>
              </a:tr>
              <a:tr h="18016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Последовательные подсостояния</a:t>
                      </a:r>
                      <a:endParaRPr lang="ru-RU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noFill/>
                  </a:tcPr>
                </a:tc>
              </a:tr>
              <a:tr h="18016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Параллельные подсостояния</a:t>
                      </a:r>
                      <a:endParaRPr lang="ru-RU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477" y="1419135"/>
            <a:ext cx="2914650" cy="15525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438" y="3285766"/>
            <a:ext cx="3514725" cy="13906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175" y="5067468"/>
            <a:ext cx="31432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5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59125" y="258792"/>
            <a:ext cx="10998679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диаграммы состояний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48" y="1095554"/>
            <a:ext cx="4928631" cy="530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0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381</Words>
  <Application>Microsoft Office PowerPoint</Application>
  <PresentationFormat>Широкоэкранный</PresentationFormat>
  <Paragraphs>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Bodoni MT Black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9</cp:revision>
  <dcterms:created xsi:type="dcterms:W3CDTF">2024-12-04T12:12:57Z</dcterms:created>
  <dcterms:modified xsi:type="dcterms:W3CDTF">2024-12-04T14:07:21Z</dcterms:modified>
</cp:coreProperties>
</file>